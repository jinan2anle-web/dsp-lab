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7205"/>
    <p:restoredTop sz="94660"/>
  </p:normalViewPr>
  <p:slideViewPr>
    <p:cSldViewPr showGuides="1">
      <p:cViewPr>
        <p:scale>
          <a:sx n="75" d="100"/>
          <a:sy n="75" d="100"/>
        </p:scale>
        <p:origin x="-1578" y="-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5EED8CD-BD6F-43C8-BCB7-02760640C12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>
                <a:latin typeface="Calibri" panose="020F0502020204030204" pitchFamily="34" charset="0"/>
              </a:rPr>
            </a:fld>
            <a:endParaRPr lang="zh-CN" altLang="en-US" sz="1200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en-US" altLang="ja-JP" sz="1200" dirty="0">
                <a:latin typeface="Calibri" panose="020F0502020204030204" pitchFamily="34" charset="0"/>
                <a:ea typeface="MS PGothic" panose="020B0600070205080204" pitchFamily="34" charset="-128"/>
              </a:rPr>
            </a:fld>
            <a:endParaRPr lang="en-US" altLang="ja-JP" sz="1200" dirty="0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5123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124" name="Rectangle 3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ja-JP" altLang="ja-JP" dirty="0">
              <a:ea typeface="MS PMincho" pitchFamily="18" charset="-128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B72068-1CD4-4B13-80DC-533D739DF0D0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0" name="スライド番号プレースホルダ 1"/>
          <p:cNvSpPr txBox="1">
            <a:spLocks noGrp="1"/>
          </p:cNvSpPr>
          <p:nvPr>
            <p:ph type="sldNum" sz="quarter" idx="12"/>
          </p:nvPr>
        </p:nvSpPr>
        <p:spPr>
          <a:xfrm>
            <a:off x="457200" y="6356350"/>
            <a:ext cx="2133600" cy="365125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defTabSz="913130" eaLnBrk="1" hangingPunct="1"/>
            <a:fld id="{9A0DB2DC-4C9A-4742-B13C-FB6460FD3503}" type="slidenum">
              <a:rPr lang="en-US" altLang="ja-JP" sz="1200" dirty="0">
                <a:solidFill>
                  <a:srgbClr val="898989"/>
                </a:solidFill>
                <a:latin typeface="Calibri" panose="020F0502020204030204" pitchFamily="34" charset="0"/>
                <a:ea typeface="MS PGothic" panose="020B0600070205080204" pitchFamily="34" charset="-128"/>
              </a:rPr>
            </a:fld>
            <a:endParaRPr lang="en-US" altLang="ja-JP" sz="1200" dirty="0">
              <a:solidFill>
                <a:srgbClr val="898989"/>
              </a:solidFill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2051" name="スライド番号プレースホルダ 3"/>
          <p:cNvSpPr txBox="1">
            <a:spLocks noGrp="1"/>
          </p:cNvSpPr>
          <p:nvPr/>
        </p:nvSpPr>
        <p:spPr>
          <a:xfrm>
            <a:off x="4227513" y="6491288"/>
            <a:ext cx="688975" cy="1936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algn="ctr" defTabSz="913130"/>
            <a:fld id="{9A0DB2DC-4C9A-4742-B13C-FB6460FD3503}" type="slidenum">
              <a:rPr lang="en-US" altLang="ja-JP" sz="900" dirty="0">
                <a:latin typeface="Calibri" panose="020F0502020204030204" pitchFamily="34" charset="0"/>
                <a:ea typeface="MS PGothic" panose="020B0600070205080204" pitchFamily="34" charset="-128"/>
              </a:rPr>
            </a:fld>
            <a:endParaRPr lang="en-US" altLang="ja-JP" sz="900" dirty="0">
              <a:latin typeface="Calibri" panose="020F0502020204030204" pitchFamily="34" charset="0"/>
              <a:ea typeface="MS PGothic" panose="020B0600070205080204" pitchFamily="34" charset="-128"/>
            </a:endParaRP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8313" y="276225"/>
            <a:ext cx="8074025" cy="257175"/>
          </a:xfrm>
        </p:spPr>
        <p:txBody>
          <a:bodyPr vert="horz" wrap="none" lIns="91440" tIns="45720" rIns="91440" bIns="45720" numCol="1" anchor="ctr" anchorCtr="0" compatLnSpc="1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第二周周报  10/12~10/18</a:t>
            </a:r>
            <a:endParaRPr kumimoji="0" lang="en-US" altLang="ja-JP" sz="13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664" name="Group 52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5900" y="739775"/>
          <a:ext cx="8712200" cy="5784931"/>
        </p:xfrm>
        <a:graphic>
          <a:graphicData uri="http://schemas.openxmlformats.org/drawingml/2006/table">
            <a:tbl>
              <a:tblPr/>
              <a:tblGrid>
                <a:gridCol w="871538"/>
                <a:gridCol w="1004887"/>
                <a:gridCol w="1073150"/>
                <a:gridCol w="3368675"/>
                <a:gridCol w="1317625"/>
                <a:gridCol w="1076325"/>
              </a:tblGrid>
              <a:tr h="736600"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项目名称</a:t>
                      </a:r>
                      <a:endParaRPr kumimoji="1" lang="ja-JP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当前项目所处阶段以及目标</a:t>
                      </a:r>
                      <a:endParaRPr kumimoji="1" lang="ja-JP" altLang="en-US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本周工作计划</a:t>
                      </a:r>
                      <a:endParaRPr kumimoji="1" lang="ja-JP" altLang="en-US" sz="11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本周工作情况</a:t>
                      </a:r>
                      <a:endParaRPr kumimoji="1" lang="en-US" altLang="ja-JP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项目中遇到的问题</a:t>
                      </a:r>
                      <a:endParaRPr kumimoji="1" lang="ja-JP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87425" rtl="0" eaLnBrk="1" fontAlgn="base" latinLnBrk="0" hangingPunct="1">
                        <a:lnSpc>
                          <a:spcPct val="9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下周工作计划</a:t>
                      </a:r>
                      <a:endParaRPr kumimoji="1" lang="ja-JP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048331">
                <a:tc>
                  <a:txBody>
                    <a:bodyPr wrap="square"/>
                    <a:lstStyle/>
                    <a:p>
                      <a:pPr marL="0" marR="0" lvl="0" indent="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 b="0">
                          <a:latin typeface="宋体"/>
                          <a:ea typeface="宋体"/>
                        </a:rPr>
                        <a:t>实验1 基于</a:t>
                      </a:r>
                      <a:endParaRPr kumimoji="1" lang="ja-JP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latin typeface="宋体"/>
                          <a:ea typeface="宋体"/>
                        </a:rPr>
                        <a:t>时域分析技术的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200" b="0">
                          <a:latin typeface="宋体"/>
                          <a:ea typeface="宋体"/>
                        </a:rPr>
                        <a:t>语音识别</a:t>
                      </a:r>
                    </a:p>
                  </a:txBody>
                  <a:tcPr marL="33247" marR="33247" marT="33447" marB="33447" vert="eaVert" anchor="ctr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00" b="0">
                          <a:latin typeface="宋体"/>
                          <a:ea typeface="宋体"/>
                        </a:rPr>
                        <a:t>第2阶段：主流程重跑</a:t>
                      </a:r>
                      <a:endParaRPr kumimoji="0" lang="en-US" altLang="ja-JP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PGothic" panose="020B0600070205080204" pitchFamily="34" charset="-128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与分类器比较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（第1—7天）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目标：在已冻结接口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上跑通 预处理—端点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检测—时域特征—分类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器 全链路，完成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KNN / SVM / DTW 比较。</a:t>
                      </a: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88900" marR="0" lvl="0" indent="-8890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00" b="0">
                          <a:latin typeface="宋体"/>
                          <a:ea typeface="宋体"/>
                        </a:rPr>
                        <a:t>1. 接口一致性核查</a:t>
                      </a:r>
                      <a:endParaRPr kumimoji="0" lang="ja-JP" altLang="ja-JP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PGothic" panose="020B0600070205080204" pitchFamily="34" charset="-128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（8 项 + wav_parse）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2. 重跑 smoke / full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取得运行产物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3. 时域特征与逐帧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序列落盘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4. 三种窗型对比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5. 7 类分类器比较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比较与混淆矩阵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6. 产出第二周周报</a:t>
                      </a: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sz="1100" b="0">
                          <a:latin typeface="宋体"/>
                          <a:ea typeface="宋体"/>
                        </a:rPr>
                        <a:t>【环境与重跑·肖雨乐】跑通 --smoke（20 条，1.01 s）与 --full（100 条，27.22 s）；产出 results/ 下 11 个文件（分类器比较.csv、测试集逐条预测.csv、图表契约.json、结果摘要.md、复现清单.json 等）与 figures/ 下 9 张图（svg + png 各一份）。</a:t>
                      </a:r>
                      <a:endParaRPr kumimoji="0" lang="en-US" altLang="zh-CN" sz="14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【数据与预处理·梁博强】read_wav、remove_dc、enframe（25 ms / 10 ms）与双门限 endpoint_detect 全链路重跑；100 条语音段写入 processed/endpoint/；质检 17 字段无削波，4_10、6_09、6_10 三条峰值偏低待复听。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【时域特征·师瑞颖】feature_extract.py 的 [T,3] 逐帧序列与 16 维聚合已落盘（frame_sequences.pkl、time_domain_feature_table.csv），并出三种窗函数时域幅频图 3 张、样本特征曲线 1 张。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【分类器·肖雨乐】同一固定划分上比较 7 类：DTW（整段）38/50 = 0.76 最佳、逻辑回归 32/50 = 0.64、高斯朴素贝叶斯 27/50 = 0.54、KNN 26/50 = 0.52、随机森林 26/50 = 0.52、SVM 24/50 = 0.48、决策树 24/50 = 0.48；窗型训练集五折 rect 0.640±0.134、hamming 0.640±0.134、hanning 0.660±0.089。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0">
                          <a:latin typeface="宋体"/>
                          <a:ea typeface="宋体"/>
                        </a:rPr>
                        <a:t>【接口核查】对照《接口冻结说明》8 项全部一致；wav_parse.py 的奇数块填充修复尚未回同步（本周产物不经过该解析器，无影响）。</a:t>
                      </a: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88900" marR="0" lvl="0" indent="-8890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0">
                          <a:latin typeface="宋体"/>
                          <a:ea typeface="宋体"/>
                        </a:rPr>
                        <a:t>1. 端点判出的语音段偏短：均值 0.274 s、最短 0.11 s，触及 min_len_ms=100 的补长边界，需人工复听。</a:t>
                      </a:r>
                      <a:endParaRPr kumimoji="0" lang="ja-JP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PGothic" panose="020B0600070205080204" pitchFamily="34" charset="-128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latin typeface="宋体"/>
                          <a:ea typeface="宋体"/>
                        </a:rPr>
                        <a:t>2. 数据泄漏局限：按固定序号划分（01–05 训练 / 06–10 测试），同一说话人可能同时出现在训练与测试集，准确率偏乐观。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latin typeface="宋体"/>
                          <a:ea typeface="宋体"/>
                        </a:rPr>
                        <a:t>3. 第二周部分脚本三处相对路径移植后失效，已改回正确相对路径并重跑验证（产物逐位一致）。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latin typeface="宋体"/>
                          <a:ea typeface="宋体"/>
                        </a:rPr>
                        <a:t>4. 复现清单两份并存：原件指向他人机器路径，本次运行另生成一份指向本机。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latin typeface="宋体"/>
                          <a:ea typeface="宋体"/>
                        </a:rPr>
                        <a:t>5. 分类器成果归属以代码为准，归肖雨乐；16 维聚合超出 PDF 要求，只作备注不写进正文。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latin typeface="宋体"/>
                          <a:ea typeface="宋体"/>
                        </a:rPr>
                        <a:t>6. wav_parse.py 奇数块修复未回同步（对本周产物无影响）。</a:t>
                      </a: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marL="88900" marR="0" lvl="0" indent="-88900" algn="l" defTabSz="987425" rtl="0" eaLnBrk="1" fontAlgn="base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00" b="0">
                          <a:latin typeface="宋体"/>
                          <a:ea typeface="宋体"/>
                        </a:rPr>
                        <a:t>1. 人工复听端点偏短样本，必要时调 is_ratio / noise_ratio 后重跑</a:t>
                      </a:r>
                      <a:endParaRPr kumimoji="0" lang="ja-JP" altLang="ja-JP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MS PGothic" panose="020B0600070205080204" pitchFamily="34" charset="-128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latin typeface="宋体"/>
                          <a:ea typeface="宋体"/>
                        </a:rPr>
                        <a:t>2. 同步 wav_parse.py 奇数块修复；补跨说话人验证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latin typeface="宋体"/>
                          <a:ea typeface="宋体"/>
                        </a:rPr>
                        <a:t>3. 把结果摘要里写死的 0.480 改成读实测值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latin typeface="宋体"/>
                          <a:ea typeface="宋体"/>
                        </a:rPr>
                        <a:t>4. 增加说话人，验证跨人泛化能力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latin typeface="宋体"/>
                          <a:ea typeface="宋体"/>
                        </a:rPr>
                        <a:t>5. 整理实验报告素材（本期不交）</a:t>
                      </a:r>
                    </a:p>
                  </a:txBody>
                  <a:tcPr marL="33247" marR="33247" marT="33447" marB="3344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076" name="TextBox 7"/>
          <p:cNvSpPr txBox="1"/>
          <p:nvPr/>
        </p:nvSpPr>
        <p:spPr>
          <a:xfrm>
            <a:off x="5349240" y="405130"/>
            <a:ext cx="3703320" cy="30670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noAutofit/>
          </a:bodyPr>
          <a:p>
            <a:pPr algn="ctr"/>
            <a:r>
              <a:rPr lang="zh-CN" altLang="en-US" sz="1400" dirty="0">
                <a:latin typeface="Arial" panose="020B0604020202020204" pitchFamily="34" charset="0"/>
              </a:rPr>
              <a:t>报告人：肖雨乐，梁博强，师瑞颖</a:t>
            </a:r>
            <a:endParaRPr lang="en-US" altLang="zh-CN" sz="1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ddb3c298-2dd3-4acb-a3a1-c346c0dd0ae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WPS 演示</Application>
  <PresentationFormat>全屏显示(4:3)</PresentationFormat>
  <Paragraphs>20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MS PGothic</vt:lpstr>
      <vt:lpstr>MS PMincho</vt:lpstr>
      <vt:lpstr>微软雅黑</vt:lpstr>
      <vt:lpstr>Arial Unicode MS</vt:lpstr>
      <vt:lpstr>Yu Gothic</vt:lpstr>
      <vt:lpstr>MS PMincho</vt:lpstr>
      <vt:lpstr>Office 主题</vt:lpstr>
      <vt:lpstr>第一周周报  04/26～ 05/02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基于草图的图像检索项目周报工作总结  04/20～ 04/26</dc:title>
  <dc:creator/>
  <cp:lastModifiedBy>zyeyes</cp:lastModifiedBy>
  <cp:revision>529</cp:revision>
  <dcterms:created xsi:type="dcterms:W3CDTF">2020-09-30T05:22:00Z</dcterms:created>
  <dcterms:modified xsi:type="dcterms:W3CDTF">2026-09-24T04:53:51Z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8DA5BFB6983E40AF83D607CA239C66A1_13</vt:lpwstr>
  </property>
</Properties>
</file>